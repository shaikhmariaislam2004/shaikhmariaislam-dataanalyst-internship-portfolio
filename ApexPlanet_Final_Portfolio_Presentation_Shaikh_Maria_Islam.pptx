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91440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5156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DATA ANALYTICS</a:t>
            </a:r>
            <a:br/>
            <a:r>
              <a:t>INTERNSHIP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514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BEAFE"/>
                </a:solidFill>
              </a:defRPr>
            </a:pPr>
            <a:r>
              <a:t>From data preparation to business storytelling and 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94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Shaikh Maria Islam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ApexPlanet Software Pvt. Ltd. • 60-Day Data Analytics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983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Python  |  Excel  |  SQL  |  Looker Studio  |  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 complete analytical journey built around one sales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4988" y="1455457"/>
            <a:ext cx="3429000" cy="1724915"/>
          </a:xfrm>
          <a:prstGeom prst="round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50207" y="1720513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302" y="2195369"/>
            <a:ext cx="25082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Clean and validate the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6043" y="1482299"/>
            <a:ext cx="3337236" cy="1683204"/>
          </a:xfrm>
          <a:prstGeom prst="round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09364" y="1735169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4215" y="2097097"/>
            <a:ext cx="280357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Explore sales, products, customers and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8014" y="1428143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79508" y="1640461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3772" y="2073167"/>
            <a:ext cx="3063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Statistically validate the Quantity–Total Sales relationship.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379" y="3746881"/>
            <a:ext cx="3530866" cy="1683203"/>
          </a:xfrm>
          <a:prstGeom prst="round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6541" y="390191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8952" y="4376987"/>
            <a:ext cx="299041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Translate findings into practical business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3840" y="3731962"/>
            <a:ext cx="3280778" cy="1698122"/>
          </a:xfrm>
          <a:prstGeom prst="roundRect">
            <a:avLst/>
          </a:prstGeom>
          <a:solidFill>
            <a:srgbClr val="FFFFFF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2656" y="392585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609" y="4380810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Connect analysis to a professional portfolio.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Internship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Five-stage progression from data preparation to portfolio finalization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148840" cy="3246120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7556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167128"/>
            <a:ext cx="1783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Data Cleaning &amp; Preparation</a:t>
            </a:r>
            <a:br/>
            <a:br/>
            <a:r>
              <a:t>Reliable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2148840" cy="3246120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81528" y="17556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167128"/>
            <a:ext cx="1783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EDA &amp; Excel Dashboard</a:t>
            </a:r>
            <a:br/>
            <a:br/>
            <a:r>
              <a:t>KPIs &amp;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600200"/>
            <a:ext cx="2148840" cy="3246120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17556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TASK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167128"/>
            <a:ext cx="1783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Deep-Dive &amp; Dashboard</a:t>
            </a:r>
            <a:br/>
            <a:br/>
            <a:r>
              <a:t>Customer segments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600200"/>
            <a:ext cx="2148840" cy="3246120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3528" y="17556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TASK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167128"/>
            <a:ext cx="1783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Storytelling &amp; Statistics</a:t>
            </a:r>
            <a:br/>
            <a:br/>
            <a:r>
              <a:t>Evidence +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1600200"/>
            <a:ext cx="2148840" cy="3246120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9528" y="17556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TASK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167128"/>
            <a:ext cx="17830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Portfolio Finalization</a:t>
            </a:r>
            <a:br/>
            <a:br/>
            <a:r>
              <a:t>Master portfolio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Task 1 — 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Cleaning and validation created a dependable base for all later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560320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184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rPr dirty="0"/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6184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7" y="2029968"/>
            <a:ext cx="21945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rPr dirty="0"/>
              <a:t>missing values after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184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2996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duplicate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463040"/>
            <a:ext cx="2560320" cy="14173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6184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02996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analysis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105156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 </a:t>
            </a:r>
            <a:r>
              <a:rPr sz="1600" dirty="0"/>
              <a:t>Age missing values filled with median 41.</a:t>
            </a:r>
          </a:p>
          <a:p>
            <a:pPr>
              <a:spcAft>
                <a:spcPts val="9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 </a:t>
            </a:r>
            <a:r>
              <a:rPr sz="1600" dirty="0"/>
              <a:t>City missing values filled with mode Patna.</a:t>
            </a:r>
          </a:p>
          <a:p>
            <a:pPr>
              <a:spcAft>
                <a:spcPts val="9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sz="1600" dirty="0"/>
              <a:t>Total Sales validated against Quantity × Unit Price.</a:t>
            </a:r>
          </a:p>
          <a:p>
            <a:pPr>
              <a:spcAft>
                <a:spcPts val="9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sz="1600" dirty="0"/>
              <a:t>19 high-value transactions flagged by IQR were retained as valid observations.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Task 2 —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Key measures and relationships revealed the structure of the sales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60320" cy="13258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₹139.40M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Total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60320" cy="13258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₹139,399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19842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Average transaction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2560320" cy="13258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5,435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Units sold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417320"/>
            <a:ext cx="2560320" cy="13258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19842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291840"/>
            <a:ext cx="2971800" cy="1600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81328" y="3447288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r ≈ 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858768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Quantity ↔ Total 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291840"/>
            <a:ext cx="2971800" cy="1600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3447288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r ≈ 0.69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858768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Unit Price ↔ Total 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291840"/>
            <a:ext cx="2971800" cy="1600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56448" y="3447288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r ≈ 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858768"/>
            <a:ext cx="2606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Age ↔ Total Sales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Sales Trends — Where Performance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Monthly revenue showed meaningful variation across the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38571"/>
            <a:ext cx="502920" cy="2693548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8510" y="5623560"/>
            <a:ext cx="3946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Jan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7592" y="2690439"/>
            <a:ext cx="502920" cy="2841680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6887" y="5623560"/>
            <a:ext cx="41004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Feb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3664" y="2307762"/>
            <a:ext cx="502920" cy="3224357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33403" y="5623560"/>
            <a:ext cx="4491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Mar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9736" y="2515148"/>
            <a:ext cx="502920" cy="3016971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26307" y="5623560"/>
            <a:ext cx="4154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Apr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2821289"/>
            <a:ext cx="502920" cy="271083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78109" y="5623560"/>
            <a:ext cx="4640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May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2344795"/>
            <a:ext cx="502920" cy="318732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4862" y="5623560"/>
            <a:ext cx="4026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Jun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2631185"/>
            <a:ext cx="502920" cy="2900934"/>
          </a:xfrm>
          <a:prstGeom prst="rect">
            <a:avLst/>
          </a:prstGeom>
          <a:solidFill>
            <a:schemeClr val="tx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83377" y="5623560"/>
            <a:ext cx="357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Jul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4024" y="3199028"/>
            <a:ext cx="502920" cy="2333091"/>
          </a:xfrm>
          <a:prstGeom prst="rect">
            <a:avLst/>
          </a:prstGeom>
          <a:solidFill>
            <a:schemeClr val="accent2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3837" y="5619381"/>
            <a:ext cx="4347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Aug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0096" y="3265688"/>
            <a:ext cx="502920" cy="2266431"/>
          </a:xfrm>
          <a:prstGeom prst="rect">
            <a:avLst/>
          </a:prstGeom>
          <a:solidFill>
            <a:schemeClr val="accent3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05865" y="5623560"/>
            <a:ext cx="41710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Sep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6168" y="2446020"/>
            <a:ext cx="502920" cy="3086100"/>
          </a:xfrm>
          <a:prstGeom prst="rect">
            <a:avLst/>
          </a:prstGeom>
          <a:solidFill>
            <a:schemeClr val="accent4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7548" y="5623560"/>
            <a:ext cx="4058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Oct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413924"/>
            <a:ext cx="502920" cy="3118195"/>
          </a:xfrm>
          <a:prstGeom prst="rect">
            <a:avLst/>
          </a:prstGeo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6211" y="5623560"/>
            <a:ext cx="4406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Nov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68312" y="2495397"/>
            <a:ext cx="502920" cy="3036722"/>
          </a:xfrm>
          <a:prstGeom prst="rect">
            <a:avLst/>
          </a:prstGeom>
          <a:solidFill>
            <a:schemeClr val="accent6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0875" y="5623560"/>
            <a:ext cx="4235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rPr sz="1200" b="1" dirty="0">
                <a:solidFill>
                  <a:schemeClr val="tx2">
                    <a:lumMod val="75000"/>
                  </a:schemeClr>
                </a:solidFill>
              </a:rPr>
              <a:t>Dec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50876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65008" y="1664207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HIGHEST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075688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March — ₹13.06M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315468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65008" y="331012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LOWEST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3721608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rPr dirty="0"/>
              <a:t>September — ₹9.18M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709159"/>
            <a:ext cx="3546594" cy="146392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65008" y="48646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READ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2018" y="5239731"/>
            <a:ext cx="3989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rPr sz="1600" dirty="0"/>
              <a:t>August–September weakest; revenue recovered Oct–Dec.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Task 3 — Customer Value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Revenue is concentrated among high-value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14600" cy="2926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556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Low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21488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237 customers</a:t>
            </a:r>
            <a:br/>
            <a:br/>
            <a:r>
              <a:t>4.04%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514600" cy="292608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7556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Medium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167128"/>
            <a:ext cx="21488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237 customers</a:t>
            </a:r>
            <a:br/>
            <a:br/>
            <a:r>
              <a:t>13.86%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514600" cy="292608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556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High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67128"/>
            <a:ext cx="21488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236 customers</a:t>
            </a:r>
            <a:br/>
            <a:br/>
            <a:r>
              <a:t>26.83%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600200"/>
            <a:ext cx="2514600" cy="292608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7" y="17556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Top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167128"/>
            <a:ext cx="214884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237 customers</a:t>
            </a:r>
            <a:br/>
            <a:br/>
            <a:r>
              <a:t>55.27%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0233F"/>
                </a:solidFill>
              </a:defRPr>
            </a:pPr>
            <a:r>
              <a:t>Key insight: Top Value customers generated 55.27% of customer revenue.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Task 3 — 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Looker Studio connected the analysis into an interactive business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6265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rPr dirty="0"/>
              <a:t>Bring KPIs, customer segments and business insights together in an interactive reporting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4747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WHAT IT COMMUNICATES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75688"/>
            <a:ext cx="30175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Revenue performance</a:t>
            </a:r>
            <a:br/>
            <a:r>
              <a:t>Transaction activity</a:t>
            </a:r>
            <a:br/>
            <a:r>
              <a:t>Customer-value concentration</a:t>
            </a:r>
            <a:br/>
            <a:r>
              <a:t>Business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347472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PORTFOLIO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75688"/>
            <a:ext cx="28468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rPr dirty="0"/>
              <a:t>The live Looker Studio dashboard is linked from the master GitHub README.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Task 4 — Hypothesis &amp; Statistical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Pearson correlation tested the Quantity–Total Sales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14173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NULL HYPOTHESIS (H₀)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8"/>
            <a:ext cx="47903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No statistically significant linear relationship between Quantity and Total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4173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61848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ALTERNATIVE (H₁)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9" y="2029968"/>
            <a:ext cx="48280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A statistically significant linear relationship exists between Quantity and Total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3246120" cy="146304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40156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13048"/>
            <a:ext cx="2880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Pearson correlation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246120"/>
            <a:ext cx="3246120" cy="146304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340156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813048"/>
            <a:ext cx="2880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n = 1,000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246120"/>
            <a:ext cx="3886200" cy="146304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8" y="3401568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SIGNIFICANCE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813048"/>
            <a:ext cx="3520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α = 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Implemented in Python using SciPy.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observed relationship was statistically significant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16002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64207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r = 0.6466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Positive linear association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60320" cy="16002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664207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p = 1.71 × 10⁻¹¹⁹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0756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Far below α = 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2560320" cy="16002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664207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95%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756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0.609 – 0.681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508760"/>
            <a:ext cx="2560320" cy="16002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8008" y="1664207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0756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Reject H₀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657600"/>
            <a:ext cx="9601200" cy="13716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81328" y="3813048"/>
            <a:ext cx="9235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224528"/>
            <a:ext cx="9235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Strong statistical evidence of a positive linear association between Quantity and Total Sales. Correlation indicates association, not causation.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From Evidence to Business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Four practical priorities emerged from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303520" cy="1554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01  RETAIN HIGH-VALUE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8"/>
            <a:ext cx="49377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Top Value customers contribute 55.27% of customer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554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61848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02  INCREASE REPEAT PURCHASES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29968"/>
            <a:ext cx="46716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Targeted follow-ups can support repeat engagement among one-time buyers.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37560"/>
            <a:ext cx="5303520" cy="1554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49300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03  PREPARE FOR WEAKER PERIODS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04487"/>
            <a:ext cx="49377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August–September showed the weakest consecutive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303520" cy="1554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49300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04  FOCUS ON HIGH-REVENUE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04487"/>
            <a:ext cx="49377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Laptop generated approximately ₹25.44M in revenue.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Technical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Capabilities applied across the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270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385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Cleaning • EDA • statistical 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52704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385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Pivot analysis • KPI dashboarding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944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Looker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Interactive reporting • visualization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9443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5584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Versioned repositories • portfolio organization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0624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3616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731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Correlation • hypothesis testing • 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06240"/>
            <a:ext cx="5212080" cy="11430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43616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Data Storytelling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77316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t>Insights • interpretation • recommendations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t>Professional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What the internship demonstrated beyond individual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3429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END-TO-END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84549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The work connected data quality, exploration, visualization, statistical validation and business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429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EVIDENCE-BASED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75688"/>
            <a:ext cx="30175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The portfolio moves from descriptive findings to formal hypothesis testing while distinguishing association from causation.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83280" cy="3429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PROFESSIONAL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75688"/>
            <a:ext cx="3017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rPr dirty="0"/>
              <a:t>Technical analysis was translated into a clear business story across repositories, dashboards and presentations.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FINAL BUSINESS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246120" cy="228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984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395728"/>
            <a:ext cx="2733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rPr dirty="0"/>
              <a:t>1,000 records transformed into a validated analytical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46120" cy="228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1984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95728"/>
            <a:ext cx="267366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rPr dirty="0"/>
              <a:t>Revenue varied by month, product and customer value; Top Value customers generated 55.27% of customer revenue.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246120" cy="22860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984248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F"/>
                </a:solidFill>
              </a:defRPr>
            </a:pPr>
            <a:r>
              <a:t>EVIDENCE →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395728"/>
            <a:ext cx="26334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rPr dirty="0"/>
              <a:t>Quantity and Total Sales showed strong statistical evidence of positive association, supporting focused commercial planning.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1200">
                <a:solidFill>
                  <a:srgbClr val="DBEAFE"/>
                </a:solidFill>
              </a:defRPr>
            </a:pPr>
            <a:r>
              <a:t>Shaikh Maria Islam  •  Data Analytics Internship 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Shaikh Maria Islam  •  ApexPlanet Data Analytics Internship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926</Words>
  <Application>Microsoft Office PowerPoint</Application>
  <PresentationFormat>Widescreen</PresentationFormat>
  <Paragraphs>190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SHAIKH MARIA ISLAM</cp:lastModifiedBy>
  <cp:revision>2</cp:revision>
  <dcterms:created xsi:type="dcterms:W3CDTF">2013-01-27T09:14:16Z</dcterms:created>
  <dcterms:modified xsi:type="dcterms:W3CDTF">2026-10-06T17:46:48Z</dcterms:modified>
  <cp:category/>
</cp:coreProperties>
</file>